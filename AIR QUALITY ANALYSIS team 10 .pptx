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88" r:id="rId2"/>
    <p:sldId id="290" r:id="rId3"/>
    <p:sldId id="296" r:id="rId4"/>
    <p:sldId id="281" r:id="rId5"/>
    <p:sldId id="289" r:id="rId6"/>
    <p:sldId id="282" r:id="rId7"/>
    <p:sldId id="283" r:id="rId8"/>
    <p:sldId id="284" r:id="rId9"/>
    <p:sldId id="285" r:id="rId10"/>
    <p:sldId id="286" r:id="rId11"/>
    <p:sldId id="294" r:id="rId12"/>
    <p:sldId id="295" r:id="rId13"/>
    <p:sldId id="271"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varScale="1">
        <p:scale>
          <a:sx n="78" d="100"/>
          <a:sy n="78" d="100"/>
        </p:scale>
        <p:origin x="878"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82B1E9-83B8-4959-B4C5-78079B023342}" type="datetimeFigureOut">
              <a:rPr lang="en-IN" smtClean="0"/>
              <a:t>27-07-2026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581AF-11C5-44A7-9101-89399D03D27C}" type="slidenum">
              <a:rPr lang="en-IN" smtClean="0"/>
              <a:t>‹#›</a:t>
            </a:fld>
            <a:endParaRPr lang="en-IN"/>
          </a:p>
        </p:txBody>
      </p:sp>
    </p:spTree>
    <p:extLst>
      <p:ext uri="{BB962C8B-B14F-4D97-AF65-F5344CB8AC3E}">
        <p14:creationId xmlns:p14="http://schemas.microsoft.com/office/powerpoint/2010/main" val="4254706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D581AF-11C5-44A7-9101-89399D03D27C}" type="slidenum">
              <a:rPr lang="en-IN" smtClean="0"/>
              <a:t>2</a:t>
            </a:fld>
            <a:endParaRPr lang="en-IN"/>
          </a:p>
        </p:txBody>
      </p:sp>
    </p:spTree>
    <p:extLst>
      <p:ext uri="{BB962C8B-B14F-4D97-AF65-F5344CB8AC3E}">
        <p14:creationId xmlns:p14="http://schemas.microsoft.com/office/powerpoint/2010/main" val="1232681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IMATS ENGINEERING —BIOTECHNOLOGY">
            <a:extLst>
              <a:ext uri="{FF2B5EF4-FFF2-40B4-BE49-F238E27FC236}">
                <a16:creationId xmlns:a16="http://schemas.microsoft.com/office/drawing/2014/main" id="{D5C7BCCB-C417-5B2C-AFF4-C062174F5C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620" y="277292"/>
            <a:ext cx="11480759" cy="147719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EE7617E-1966-24DD-5F62-30590B666CC9}"/>
              </a:ext>
            </a:extLst>
          </p:cNvPr>
          <p:cNvSpPr txBox="1"/>
          <p:nvPr/>
        </p:nvSpPr>
        <p:spPr>
          <a:xfrm>
            <a:off x="7721722" y="4977721"/>
            <a:ext cx="4467103" cy="1200329"/>
          </a:xfrm>
          <a:prstGeom prst="rect">
            <a:avLst/>
          </a:prstGeom>
          <a:noFill/>
        </p:spPr>
        <p:txBody>
          <a:bodyPr wrap="square">
            <a:spAutoFit/>
          </a:bodyPr>
          <a:lstStyle/>
          <a:p>
            <a:pPr algn="l"/>
            <a:r>
              <a:rPr lang="en-GB" dirty="0">
                <a:latin typeface="Times New Roman" panose="02020603050405020304" pitchFamily="18" charset="0"/>
                <a:cs typeface="Times New Roman" panose="02020603050405020304" pitchFamily="18" charset="0"/>
              </a:rPr>
              <a:t>Presented by	</a:t>
            </a:r>
          </a:p>
          <a:p>
            <a:pPr algn="l"/>
            <a:r>
              <a:rPr lang="en-US" sz="1800" dirty="0">
                <a:latin typeface="Times New Roman" panose="02020603050405020304" pitchFamily="18" charset="0"/>
                <a:cs typeface="Times New Roman" panose="02020603050405020304" pitchFamily="18" charset="0"/>
              </a:rPr>
              <a:t>M. Sanjay Krishna(192525421)</a:t>
            </a:r>
          </a:p>
          <a:p>
            <a:pPr algn="l"/>
            <a:r>
              <a:rPr lang="en-US" dirty="0">
                <a:latin typeface="Times New Roman" panose="02020603050405020304" pitchFamily="18" charset="0"/>
                <a:cs typeface="Times New Roman" panose="02020603050405020304" pitchFamily="18" charset="0"/>
              </a:rPr>
              <a:t>K. Jaswanth(192524455)</a:t>
            </a:r>
          </a:p>
          <a:p>
            <a:pPr algn="l"/>
            <a:r>
              <a:rPr lang="en-US" sz="1800" dirty="0">
                <a:latin typeface="Times New Roman" panose="02020603050405020304" pitchFamily="18" charset="0"/>
                <a:cs typeface="Times New Roman" panose="02020603050405020304" pitchFamily="18" charset="0"/>
              </a:rPr>
              <a:t>R. Makeshwaran (</a:t>
            </a:r>
            <a:r>
              <a:rPr lang="en-US" dirty="0">
                <a:latin typeface="Times New Roman" panose="02020603050405020304" pitchFamily="18" charset="0"/>
                <a:cs typeface="Times New Roman" panose="02020603050405020304" pitchFamily="18" charset="0"/>
              </a:rPr>
              <a:t>192519082)</a:t>
            </a:r>
            <a:endParaRPr lang="en-US" sz="18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046E0BD-E0AF-5530-8727-6EF6334CD23C}"/>
              </a:ext>
            </a:extLst>
          </p:cNvPr>
          <p:cNvSpPr txBox="1"/>
          <p:nvPr/>
        </p:nvSpPr>
        <p:spPr>
          <a:xfrm>
            <a:off x="355620" y="3429000"/>
            <a:ext cx="11480759" cy="1323439"/>
          </a:xfrm>
          <a:prstGeom prst="rect">
            <a:avLst/>
          </a:prstGeom>
          <a:noFill/>
        </p:spPr>
        <p:txBody>
          <a:bodyPr wrap="square">
            <a:spAutoFit/>
          </a:bodyPr>
          <a:lstStyle/>
          <a:p>
            <a:pPr algn="ctr"/>
            <a:r>
              <a:rPr lang="en-US" sz="4000" dirty="0"/>
              <a:t>Air Quality Prediction Using Environmental Data Analytics</a:t>
            </a:r>
            <a:endParaRPr lang="en-IN" sz="4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A334DA3-71F7-3C5D-E143-5D3DF7443D5E}"/>
              </a:ext>
            </a:extLst>
          </p:cNvPr>
          <p:cNvSpPr txBox="1"/>
          <p:nvPr/>
        </p:nvSpPr>
        <p:spPr>
          <a:xfrm>
            <a:off x="354032" y="2203017"/>
            <a:ext cx="11482347" cy="584775"/>
          </a:xfrm>
          <a:prstGeom prst="rect">
            <a:avLst/>
          </a:prstGeom>
          <a:noFill/>
        </p:spPr>
        <p:txBody>
          <a:bodyPr wrap="square">
            <a:spAutoFit/>
          </a:bodyPr>
          <a:lstStyle/>
          <a:p>
            <a:pPr algn="ctr"/>
            <a:r>
              <a:rPr lang="en-US" sz="3200" b="1" dirty="0">
                <a:latin typeface="Times New Roman" panose="02020603050405020304" pitchFamily="18" charset="0"/>
                <a:cs typeface="Times New Roman" panose="02020603050405020304" pitchFamily="18" charset="0"/>
              </a:rPr>
              <a:t>CSA0808-PYTHON PROGRAMMING</a:t>
            </a:r>
          </a:p>
        </p:txBody>
      </p:sp>
      <p:sp>
        <p:nvSpPr>
          <p:cNvPr id="2" name="TextBox 1">
            <a:extLst>
              <a:ext uri="{FF2B5EF4-FFF2-40B4-BE49-F238E27FC236}">
                <a16:creationId xmlns:a16="http://schemas.microsoft.com/office/drawing/2014/main" id="{A986F012-3DB1-3DE2-52ED-46CCD6C68616}"/>
              </a:ext>
            </a:extLst>
          </p:cNvPr>
          <p:cNvSpPr txBox="1"/>
          <p:nvPr/>
        </p:nvSpPr>
        <p:spPr>
          <a:xfrm>
            <a:off x="732504" y="4977721"/>
            <a:ext cx="3868994" cy="646331"/>
          </a:xfrm>
          <a:prstGeom prst="rect">
            <a:avLst/>
          </a:prstGeom>
          <a:noFill/>
        </p:spPr>
        <p:txBody>
          <a:bodyPr wrap="square">
            <a:spAutoFit/>
          </a:bodyPr>
          <a:lstStyle/>
          <a:p>
            <a:pPr algn="l"/>
            <a:r>
              <a:rPr lang="en-GB" dirty="0">
                <a:latin typeface="Times New Roman" panose="02020603050405020304" pitchFamily="18" charset="0"/>
                <a:cs typeface="Times New Roman" panose="02020603050405020304" pitchFamily="18" charset="0"/>
              </a:rPr>
              <a:t>Supervised by	</a:t>
            </a:r>
          </a:p>
          <a:p>
            <a:pPr algn="l"/>
            <a:r>
              <a:rPr lang="en-US" dirty="0">
                <a:solidFill>
                  <a:srgbClr val="000000"/>
                </a:solidFill>
                <a:latin typeface="Times New Roman" panose="02020603050405020304" pitchFamily="18" charset="0"/>
                <a:ea typeface="DM Sans"/>
                <a:cs typeface="Times New Roman" panose="02020603050405020304" pitchFamily="18" charset="0"/>
                <a:sym typeface="DM Sans"/>
              </a:rPr>
              <a:t>Dr. Ponmaniraj</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1843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798B01-EFBD-7D5A-657F-6442FBBA1AD0}"/>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BE1CE785-06EA-4BD5-1F8A-B80B6DC3D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A93B9C-923E-A873-49D8-D29D4177C6E9}"/>
              </a:ext>
            </a:extLst>
          </p:cNvPr>
          <p:cNvSpPr>
            <a:spLocks noGrp="1"/>
          </p:cNvSpPr>
          <p:nvPr>
            <p:ph type="title"/>
          </p:nvPr>
        </p:nvSpPr>
        <p:spPr>
          <a:xfrm>
            <a:off x="572343" y="238539"/>
            <a:ext cx="11015651" cy="1434415"/>
          </a:xfrm>
        </p:spPr>
        <p:txBody>
          <a:bodyPr anchor="b">
            <a:normAutofit/>
          </a:bodyPr>
          <a:lstStyle/>
          <a:p>
            <a:r>
              <a:rPr lang="en-IN" sz="5300" dirty="0">
                <a:latin typeface="Times New Roman" panose="02020603050405020304" pitchFamily="18" charset="0"/>
                <a:cs typeface="Times New Roman" panose="02020603050405020304" pitchFamily="18" charset="0"/>
              </a:rPr>
              <a:t>Abstract </a:t>
            </a:r>
          </a:p>
        </p:txBody>
      </p:sp>
      <p:sp>
        <p:nvSpPr>
          <p:cNvPr id="2057" name="sketchy line">
            <a:extLst>
              <a:ext uri="{FF2B5EF4-FFF2-40B4-BE49-F238E27FC236}">
                <a16:creationId xmlns:a16="http://schemas.microsoft.com/office/drawing/2014/main" id="{CA094A48-6ED2-A91E-D0B1-D8B411649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04F4CA-C2F9-2BB5-7CCD-88CC053556ED}"/>
              </a:ext>
            </a:extLst>
          </p:cNvPr>
          <p:cNvSpPr>
            <a:spLocks noGrp="1"/>
          </p:cNvSpPr>
          <p:nvPr>
            <p:ph idx="1"/>
          </p:nvPr>
        </p:nvSpPr>
        <p:spPr>
          <a:xfrm>
            <a:off x="572343" y="2071316"/>
            <a:ext cx="10969942" cy="4119172"/>
          </a:xfrm>
        </p:spPr>
        <p:txBody>
          <a:bodyPr anchor="t">
            <a:normAutofit/>
          </a:bodyPr>
          <a:lstStyle/>
          <a:p>
            <a:pPr marL="0" indent="0">
              <a:buNone/>
            </a:pPr>
            <a:r>
              <a:rPr lang="en-US" sz="2400" dirty="0">
                <a:latin typeface="Times New Roman" panose="02020603050405020304" pitchFamily="18" charset="0"/>
                <a:cs typeface="Times New Roman" panose="02020603050405020304" pitchFamily="18" charset="0"/>
              </a:rPr>
              <a:t>Air pollution has become a major environmental issue affecting human health and climate conditions. This project focuses on predicting air quality using environmental data analytics techniques. The system collects pollution-related data such as temperature, humidity, CO₂, PM2.5, and PM10 levels. Machine learning and deep learning algorithms like Random Forest and LSTM are used to analyze historical data and predict Air Quality Index (AQI). The proposed system improves prediction accuracy and helps authorities monitor pollution levels effectively.</a:t>
            </a:r>
          </a:p>
        </p:txBody>
      </p:sp>
      <p:pic>
        <p:nvPicPr>
          <p:cNvPr id="2050" name="Picture 2" descr="Saveetha Institute of Medical and Technical Sciences -SIMATS | Chennai">
            <a:extLst>
              <a:ext uri="{FF2B5EF4-FFF2-40B4-BE49-F238E27FC236}">
                <a16:creationId xmlns:a16="http://schemas.microsoft.com/office/drawing/2014/main" id="{0B8FC123-45DA-5D5F-E8BB-0556557E0B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3827" y="-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D6177375-BEDC-D590-8C4F-2E81577D3713}"/>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2671" y="25112"/>
            <a:ext cx="1036320" cy="136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999004"/>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40CB43-C405-201A-7544-2CDC859C002A}"/>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150AC0FA-1FDC-A93E-B054-7517B8E68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D9CD0A-3CBE-9BEA-FAD0-34CE255E65AD}"/>
              </a:ext>
            </a:extLst>
          </p:cNvPr>
          <p:cNvSpPr>
            <a:spLocks noGrp="1"/>
          </p:cNvSpPr>
          <p:nvPr>
            <p:ph type="title"/>
          </p:nvPr>
        </p:nvSpPr>
        <p:spPr>
          <a:xfrm>
            <a:off x="572343" y="238539"/>
            <a:ext cx="11015651" cy="1434415"/>
          </a:xfrm>
        </p:spPr>
        <p:txBody>
          <a:bodyPr anchor="b">
            <a:normAutofit/>
          </a:bodyPr>
          <a:lstStyle/>
          <a:p>
            <a:r>
              <a:rPr lang="en-IN" sz="5300" dirty="0">
                <a:latin typeface="Times New Roman" panose="02020603050405020304" pitchFamily="18" charset="0"/>
                <a:cs typeface="Times New Roman" panose="02020603050405020304" pitchFamily="18" charset="0"/>
              </a:rPr>
              <a:t>Introduction </a:t>
            </a:r>
          </a:p>
        </p:txBody>
      </p:sp>
      <p:sp>
        <p:nvSpPr>
          <p:cNvPr id="2057" name="sketchy line">
            <a:extLst>
              <a:ext uri="{FF2B5EF4-FFF2-40B4-BE49-F238E27FC236}">
                <a16:creationId xmlns:a16="http://schemas.microsoft.com/office/drawing/2014/main" id="{B8A55B29-8AD1-90B0-11D6-79614A09DC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FEBDE3-564C-01D0-A7D6-BCA2170DB3C1}"/>
              </a:ext>
            </a:extLst>
          </p:cNvPr>
          <p:cNvSpPr>
            <a:spLocks noGrp="1"/>
          </p:cNvSpPr>
          <p:nvPr>
            <p:ph idx="1"/>
          </p:nvPr>
        </p:nvSpPr>
        <p:spPr>
          <a:xfrm>
            <a:off x="572343" y="1974713"/>
            <a:ext cx="10969942" cy="4119172"/>
          </a:xfrm>
        </p:spPr>
        <p:txBody>
          <a:bodyPr anchor="t">
            <a:normAutofit/>
          </a:bodyPr>
          <a:lstStyle/>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Air pollution is increasing rapidly. </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Vehicle emissions and industries cause pollution. </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AQI indicates pollution severity. </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AI techniques help predict future AQI levels.</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Environmental analytics improves monitoring systems. </a:t>
            </a:r>
          </a:p>
          <a:p>
            <a:pPr>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Early prediction helps public safety.</a:t>
            </a:r>
            <a:endParaRPr lang="en-US" sz="2800" dirty="0">
              <a:latin typeface="Times New Roman" panose="02020603050405020304" pitchFamily="18" charset="0"/>
              <a:cs typeface="Times New Roman" panose="02020603050405020304" pitchFamily="18" charset="0"/>
            </a:endParaRPr>
          </a:p>
        </p:txBody>
      </p:sp>
      <p:pic>
        <p:nvPicPr>
          <p:cNvPr id="2050" name="Picture 2" descr="Saveetha Institute of Medical and Technical Sciences -SIMATS | Chennai">
            <a:extLst>
              <a:ext uri="{FF2B5EF4-FFF2-40B4-BE49-F238E27FC236}">
                <a16:creationId xmlns:a16="http://schemas.microsoft.com/office/drawing/2014/main" id="{70E048DC-989B-6385-9375-F01B3152EA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B18042E8-3A03-6C16-FA6D-B04A93355D8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42527"/>
            <a:ext cx="1036320" cy="136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0238804"/>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8CF097-A25C-27D9-260E-715D5EBDBD66}"/>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9168E2-3811-044A-7A0B-A5AEFFCF8C05}"/>
              </a:ext>
            </a:extLst>
          </p:cNvPr>
          <p:cNvSpPr>
            <a:spLocks noGrp="1"/>
          </p:cNvSpPr>
          <p:nvPr>
            <p:ph type="title"/>
          </p:nvPr>
        </p:nvSpPr>
        <p:spPr>
          <a:xfrm>
            <a:off x="572343" y="238539"/>
            <a:ext cx="11015651" cy="1434415"/>
          </a:xfrm>
        </p:spPr>
        <p:txBody>
          <a:bodyPr anchor="b">
            <a:normAutofit/>
          </a:bodyPr>
          <a:lstStyle/>
          <a:p>
            <a:r>
              <a:rPr lang="en-IN" sz="5300" dirty="0">
                <a:latin typeface="Times New Roman" panose="02020603050405020304" pitchFamily="18" charset="0"/>
                <a:cs typeface="Times New Roman" panose="02020603050405020304" pitchFamily="18" charset="0"/>
              </a:rPr>
              <a:t>Objectives </a:t>
            </a: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3D6022-F7CF-C373-496B-B3E170AEFC0C}"/>
              </a:ext>
            </a:extLst>
          </p:cNvPr>
          <p:cNvSpPr>
            <a:spLocks noGrp="1"/>
          </p:cNvSpPr>
          <p:nvPr>
            <p:ph idx="1"/>
          </p:nvPr>
        </p:nvSpPr>
        <p:spPr>
          <a:xfrm>
            <a:off x="572343" y="2071316"/>
            <a:ext cx="10969942" cy="4119172"/>
          </a:xfrm>
        </p:spPr>
        <p:txBody>
          <a:bodyPr anchor="t">
            <a:normAutofit/>
          </a:bodyPr>
          <a:lstStyle/>
          <a:p>
            <a:r>
              <a:rPr lang="en-IN" sz="2800" dirty="0">
                <a:latin typeface="Times New Roman" panose="02020603050405020304" pitchFamily="18" charset="0"/>
                <a:cs typeface="Times New Roman" panose="02020603050405020304" pitchFamily="18" charset="0"/>
              </a:rPr>
              <a:t>Collect environmental pollution data. </a:t>
            </a:r>
          </a:p>
          <a:p>
            <a:r>
              <a:rPr lang="en-IN" sz="2800" dirty="0">
                <a:latin typeface="Times New Roman" panose="02020603050405020304" pitchFamily="18" charset="0"/>
                <a:cs typeface="Times New Roman" panose="02020603050405020304" pitchFamily="18" charset="0"/>
              </a:rPr>
              <a:t>Analyze air quality parameters. </a:t>
            </a:r>
          </a:p>
          <a:p>
            <a:r>
              <a:rPr lang="en-IN" sz="2800" dirty="0">
                <a:latin typeface="Times New Roman" panose="02020603050405020304" pitchFamily="18" charset="0"/>
                <a:cs typeface="Times New Roman" panose="02020603050405020304" pitchFamily="18" charset="0"/>
              </a:rPr>
              <a:t>Predict AQI accurately. </a:t>
            </a:r>
          </a:p>
          <a:p>
            <a:r>
              <a:rPr lang="en-IN" sz="2800" dirty="0">
                <a:latin typeface="Times New Roman" panose="02020603050405020304" pitchFamily="18" charset="0"/>
                <a:cs typeface="Times New Roman" panose="02020603050405020304" pitchFamily="18" charset="0"/>
              </a:rPr>
              <a:t>Use LSTM and Random Forest algorithms. </a:t>
            </a:r>
          </a:p>
          <a:p>
            <a:r>
              <a:rPr lang="en-IN" sz="2800" dirty="0">
                <a:latin typeface="Times New Roman" panose="02020603050405020304" pitchFamily="18" charset="0"/>
                <a:cs typeface="Times New Roman" panose="02020603050405020304" pitchFamily="18" charset="0"/>
              </a:rPr>
              <a:t>Improve environmental monitoring. </a:t>
            </a:r>
          </a:p>
          <a:p>
            <a:r>
              <a:rPr lang="en-IN" sz="2800" dirty="0">
                <a:latin typeface="Times New Roman" panose="02020603050405020304" pitchFamily="18" charset="0"/>
                <a:cs typeface="Times New Roman" panose="02020603050405020304" pitchFamily="18" charset="0"/>
              </a:rPr>
              <a:t>Reduce pollution-related </a:t>
            </a:r>
            <a:r>
              <a:rPr lang="en-IN" sz="2400" dirty="0">
                <a:latin typeface="Times New Roman" panose="02020603050405020304" pitchFamily="18" charset="0"/>
                <a:cs typeface="Times New Roman" panose="02020603050405020304" pitchFamily="18" charset="0"/>
              </a:rPr>
              <a:t>risks.</a:t>
            </a:r>
            <a:endParaRPr lang="en-US" sz="2400" dirty="0">
              <a:latin typeface="Times New Roman" panose="02020603050405020304" pitchFamily="18" charset="0"/>
              <a:cs typeface="Times New Roman" panose="02020603050405020304" pitchFamily="18" charset="0"/>
            </a:endParaRPr>
          </a:p>
        </p:txBody>
      </p:sp>
      <p:pic>
        <p:nvPicPr>
          <p:cNvPr id="2050" name="Picture 2" descr="Saveetha Institute of Medical and Technical Sciences -SIMATS | Chennai">
            <a:extLst>
              <a:ext uri="{FF2B5EF4-FFF2-40B4-BE49-F238E27FC236}">
                <a16:creationId xmlns:a16="http://schemas.microsoft.com/office/drawing/2014/main" id="{096BD05A-2F94-D866-A81C-57150118E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256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CC0BF84F-3420-0AF1-7B62-8CB53ECE725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39668"/>
            <a:ext cx="1036320" cy="136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802725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F726E3-FBD1-BF96-BD78-306BCFC2DB66}"/>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572FC7A2-78C7-3894-44D5-84C48A2A84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351CC0-9687-625C-0C4D-EC0A3AE91EAF}"/>
              </a:ext>
            </a:extLst>
          </p:cNvPr>
          <p:cNvSpPr>
            <a:spLocks noGrp="1"/>
          </p:cNvSpPr>
          <p:nvPr>
            <p:ph type="title"/>
          </p:nvPr>
        </p:nvSpPr>
        <p:spPr>
          <a:xfrm>
            <a:off x="572343" y="238539"/>
            <a:ext cx="11015651" cy="1434415"/>
          </a:xfrm>
        </p:spPr>
        <p:txBody>
          <a:bodyPr anchor="b">
            <a:normAutofit/>
          </a:bodyPr>
          <a:lstStyle/>
          <a:p>
            <a:r>
              <a:rPr lang="en-IN" sz="5400" dirty="0">
                <a:latin typeface="Times New Roman" panose="02020603050405020304" pitchFamily="18" charset="0"/>
                <a:cs typeface="Times New Roman" panose="02020603050405020304" pitchFamily="18" charset="0"/>
              </a:rPr>
              <a:t>Literature Survey</a:t>
            </a:r>
            <a:r>
              <a:rPr lang="en-IN" sz="5300" dirty="0">
                <a:latin typeface="Times New Roman" panose="02020603050405020304" pitchFamily="18" charset="0"/>
                <a:cs typeface="Times New Roman" panose="02020603050405020304" pitchFamily="18" charset="0"/>
              </a:rPr>
              <a:t> </a:t>
            </a:r>
          </a:p>
        </p:txBody>
      </p:sp>
      <p:sp>
        <p:nvSpPr>
          <p:cNvPr id="2057" name="sketchy line">
            <a:extLst>
              <a:ext uri="{FF2B5EF4-FFF2-40B4-BE49-F238E27FC236}">
                <a16:creationId xmlns:a16="http://schemas.microsoft.com/office/drawing/2014/main" id="{AC56FB36-7C68-CC3B-739D-1CF5DC71BC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3E615FA1-7B7F-A02E-6F01-3996CA551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E8C19DFB-EF35-3A33-2DA4-8C7B02E4FA2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1"/>
            <a:ext cx="1036320" cy="136413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404D6D3-4A40-293F-242A-DFE7CC317975}"/>
              </a:ext>
            </a:extLst>
          </p:cNvPr>
          <p:cNvPicPr>
            <a:picLocks noChangeAspect="1"/>
          </p:cNvPicPr>
          <p:nvPr/>
        </p:nvPicPr>
        <p:blipFill>
          <a:blip r:embed="rId4"/>
          <a:stretch>
            <a:fillRect/>
          </a:stretch>
        </p:blipFill>
        <p:spPr>
          <a:xfrm>
            <a:off x="321534" y="1947235"/>
            <a:ext cx="11542708" cy="4636483"/>
          </a:xfrm>
          <a:prstGeom prst="rect">
            <a:avLst/>
          </a:prstGeom>
        </p:spPr>
      </p:pic>
    </p:spTree>
    <p:extLst>
      <p:ext uri="{BB962C8B-B14F-4D97-AF65-F5344CB8AC3E}">
        <p14:creationId xmlns:p14="http://schemas.microsoft.com/office/powerpoint/2010/main" val="2287398357"/>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95535B-5FB6-95BD-384F-B9CE183267F5}"/>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173305-E1BA-07ED-4D6B-9999C19DE746}"/>
              </a:ext>
            </a:extLst>
          </p:cNvPr>
          <p:cNvSpPr>
            <a:spLocks noGrp="1"/>
          </p:cNvSpPr>
          <p:nvPr>
            <p:ph type="title"/>
          </p:nvPr>
        </p:nvSpPr>
        <p:spPr>
          <a:xfrm>
            <a:off x="572343" y="238539"/>
            <a:ext cx="11015651" cy="1434415"/>
          </a:xfrm>
        </p:spPr>
        <p:txBody>
          <a:bodyPr anchor="b">
            <a:normAutofit/>
          </a:bodyPr>
          <a:lstStyle/>
          <a:p>
            <a:r>
              <a:rPr lang="en-IN" sz="5300" dirty="0">
                <a:latin typeface="Times New Roman" panose="02020603050405020304" pitchFamily="18" charset="0"/>
                <a:cs typeface="Times New Roman" panose="02020603050405020304" pitchFamily="18" charset="0"/>
              </a:rPr>
              <a:t>Problem Statement </a:t>
            </a: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421DAC-78B0-C286-F98A-78A37DB00025}"/>
              </a:ext>
            </a:extLst>
          </p:cNvPr>
          <p:cNvSpPr>
            <a:spLocks noGrp="1"/>
          </p:cNvSpPr>
          <p:nvPr>
            <p:ph idx="1"/>
          </p:nvPr>
        </p:nvSpPr>
        <p:spPr>
          <a:xfrm>
            <a:off x="562139" y="2600736"/>
            <a:ext cx="10969943" cy="3302603"/>
          </a:xfrm>
        </p:spPr>
        <p:txBody>
          <a:bodyPr anchor="t">
            <a:normAutofit/>
          </a:bodyPr>
          <a:lstStyle/>
          <a:p>
            <a:r>
              <a:rPr lang="en-US" sz="2800" dirty="0">
                <a:latin typeface="Times New Roman" panose="02020603050405020304" pitchFamily="18" charset="0"/>
                <a:cs typeface="Times New Roman" panose="02020603050405020304" pitchFamily="18" charset="0"/>
              </a:rPr>
              <a:t>Air pollution causes health issues. </a:t>
            </a:r>
          </a:p>
          <a:p>
            <a:r>
              <a:rPr lang="en-US" sz="2800" dirty="0">
                <a:latin typeface="Times New Roman" panose="02020603050405020304" pitchFamily="18" charset="0"/>
                <a:cs typeface="Times New Roman" panose="02020603050405020304" pitchFamily="18" charset="0"/>
              </a:rPr>
              <a:t>Existing systems provide less accurate predictions. </a:t>
            </a:r>
          </a:p>
          <a:p>
            <a:r>
              <a:rPr lang="en-US" sz="2800" dirty="0">
                <a:latin typeface="Times New Roman" panose="02020603050405020304" pitchFamily="18" charset="0"/>
                <a:cs typeface="Times New Roman" panose="02020603050405020304" pitchFamily="18" charset="0"/>
              </a:rPr>
              <a:t>Real-time AQI forecasting is difficult. </a:t>
            </a:r>
          </a:p>
          <a:p>
            <a:r>
              <a:rPr lang="en-US" sz="2800" dirty="0">
                <a:latin typeface="Times New Roman" panose="02020603050405020304" pitchFamily="18" charset="0"/>
                <a:cs typeface="Times New Roman" panose="02020603050405020304" pitchFamily="18" charset="0"/>
              </a:rPr>
              <a:t>Large environmental datasets are hard to analyze. </a:t>
            </a:r>
          </a:p>
          <a:p>
            <a:r>
              <a:rPr lang="en-US" sz="2800" dirty="0">
                <a:latin typeface="Times New Roman" panose="02020603050405020304" pitchFamily="18" charset="0"/>
                <a:cs typeface="Times New Roman" panose="02020603050405020304" pitchFamily="18" charset="0"/>
              </a:rPr>
              <a:t>Intelligent prediction systems are required. </a:t>
            </a:r>
          </a:p>
        </p:txBody>
      </p:sp>
      <p:pic>
        <p:nvPicPr>
          <p:cNvPr id="2050" name="Picture 2" descr="Saveetha Institute of Medical and Technical Sciences -SIMATS | Chennai">
            <a:extLst>
              <a:ext uri="{FF2B5EF4-FFF2-40B4-BE49-F238E27FC236}">
                <a16:creationId xmlns:a16="http://schemas.microsoft.com/office/drawing/2014/main" id="{2C7F9D3B-9B55-6275-0E66-EDCC68690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F41760E2-781C-9939-229A-65B249C37A1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1"/>
            <a:ext cx="1036320" cy="136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5088594"/>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04CE6E-DBEC-7478-2E07-467C3ED8E6B7}"/>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D1C57-38AE-302B-C536-CE4BF0B4AF0A}"/>
              </a:ext>
            </a:extLst>
          </p:cNvPr>
          <p:cNvSpPr>
            <a:spLocks noGrp="1"/>
          </p:cNvSpPr>
          <p:nvPr>
            <p:ph type="title"/>
          </p:nvPr>
        </p:nvSpPr>
        <p:spPr>
          <a:xfrm>
            <a:off x="572343" y="238539"/>
            <a:ext cx="11015651" cy="1434415"/>
          </a:xfrm>
        </p:spPr>
        <p:txBody>
          <a:bodyPr anchor="b">
            <a:normAutofit/>
          </a:bodyPr>
          <a:lstStyle/>
          <a:p>
            <a:r>
              <a:rPr lang="en-IN" sz="5300" dirty="0">
                <a:latin typeface="Times New Roman" panose="02020603050405020304" pitchFamily="18" charset="0"/>
                <a:cs typeface="Times New Roman" panose="02020603050405020304" pitchFamily="18" charset="0"/>
              </a:rPr>
              <a:t>System Architecture </a:t>
            </a: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7FAE7461-A935-6ECD-58A2-3630D9810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809"/>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0FAF48DC-6ED0-88B2-A0F6-9A799F48F9A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1"/>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85A06EFE-8746-AA35-939F-36F55B301068}"/>
              </a:ext>
            </a:extLst>
          </p:cNvPr>
          <p:cNvSpPr>
            <a:spLocks noGrp="1"/>
          </p:cNvSpPr>
          <p:nvPr>
            <p:ph idx="1"/>
          </p:nvPr>
        </p:nvSpPr>
        <p:spPr/>
        <p:txBody>
          <a:bodyPr/>
          <a:lstStyle/>
          <a:p>
            <a:pPr marL="0" indent="0">
              <a:buNone/>
            </a:pPr>
            <a:endParaRPr lang="en-US" dirty="0"/>
          </a:p>
          <a:p>
            <a:pPr marL="0" indent="0">
              <a:buNone/>
            </a:pPr>
            <a:endParaRPr lang="en-IN" dirty="0"/>
          </a:p>
        </p:txBody>
      </p:sp>
      <p:pic>
        <p:nvPicPr>
          <p:cNvPr id="9" name="Picture 8">
            <a:extLst>
              <a:ext uri="{FF2B5EF4-FFF2-40B4-BE49-F238E27FC236}">
                <a16:creationId xmlns:a16="http://schemas.microsoft.com/office/drawing/2014/main" id="{A40A9F25-E0AA-48F2-B97D-18E383209AFE}"/>
              </a:ext>
            </a:extLst>
          </p:cNvPr>
          <p:cNvPicPr>
            <a:picLocks noChangeAspect="1"/>
          </p:cNvPicPr>
          <p:nvPr/>
        </p:nvPicPr>
        <p:blipFill>
          <a:blip r:embed="rId4"/>
          <a:stretch>
            <a:fillRect/>
          </a:stretch>
        </p:blipFill>
        <p:spPr>
          <a:xfrm>
            <a:off x="1818641" y="1838632"/>
            <a:ext cx="9183656" cy="4762541"/>
          </a:xfrm>
          <a:prstGeom prst="rect">
            <a:avLst/>
          </a:prstGeom>
        </p:spPr>
      </p:pic>
    </p:spTree>
    <p:extLst>
      <p:ext uri="{BB962C8B-B14F-4D97-AF65-F5344CB8AC3E}">
        <p14:creationId xmlns:p14="http://schemas.microsoft.com/office/powerpoint/2010/main" val="397745295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7BDEAB2-B22C-CF13-CE48-2D7ECE47FB63}"/>
            </a:ext>
          </a:extLst>
        </p:cNvPr>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09F7AE-6D7E-9888-7B1C-B3F2926A2859}"/>
              </a:ext>
            </a:extLst>
          </p:cNvPr>
          <p:cNvSpPr>
            <a:spLocks noGrp="1"/>
          </p:cNvSpPr>
          <p:nvPr>
            <p:ph type="title"/>
          </p:nvPr>
        </p:nvSpPr>
        <p:spPr>
          <a:xfrm>
            <a:off x="1036320" y="238539"/>
            <a:ext cx="9867508" cy="1434415"/>
          </a:xfrm>
        </p:spPr>
        <p:txBody>
          <a:bodyPr anchor="b">
            <a:noAutofit/>
          </a:bodyPr>
          <a:lstStyle/>
          <a:p>
            <a:r>
              <a:rPr lang="en-US" sz="4600" dirty="0">
                <a:latin typeface="Times New Roman" panose="02020603050405020304" pitchFamily="18" charset="0"/>
                <a:cs typeface="Times New Roman" panose="02020603050405020304" pitchFamily="18" charset="0"/>
              </a:rPr>
              <a:t>MODULE 1: </a:t>
            </a:r>
            <a:r>
              <a:rPr lang="en-IN" sz="4800" dirty="0"/>
              <a:t>Pollution Data Collection</a:t>
            </a:r>
            <a:endParaRPr lang="en-IN" sz="4600" dirty="0">
              <a:latin typeface="Times New Roman" panose="02020603050405020304" pitchFamily="18" charset="0"/>
              <a:cs typeface="Times New Roman" panose="02020603050405020304" pitchFamily="18" charset="0"/>
            </a:endParaRPr>
          </a:p>
        </p:txBody>
      </p:sp>
      <p:sp>
        <p:nvSpPr>
          <p:cNvPr id="2064"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F100A138-CE55-F787-F56E-D8ACBE310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1"/>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BAE3E3C1-3B0F-AEA5-9206-8AE2C4E8F80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182" y="1"/>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FC4CB5FF-F854-DB4C-1465-A5A780175E92}"/>
              </a:ext>
            </a:extLst>
          </p:cNvPr>
          <p:cNvSpPr>
            <a:spLocks noGrp="1" noChangeArrowheads="1"/>
          </p:cNvSpPr>
          <p:nvPr>
            <p:ph idx="1"/>
          </p:nvPr>
        </p:nvSpPr>
        <p:spPr bwMode="auto">
          <a:xfrm>
            <a:off x="572342" y="2064227"/>
            <a:ext cx="4697748" cy="4007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400" dirty="0">
                <a:latin typeface="Times New Roman" panose="02020603050405020304" pitchFamily="18" charset="0"/>
                <a:cs typeface="Times New Roman" panose="02020603050405020304" pitchFamily="18" charset="0"/>
              </a:rPr>
              <a:t>Collects environmental datasets.</a:t>
            </a:r>
          </a:p>
          <a:p>
            <a:r>
              <a:rPr lang="en-IN" sz="2400" dirty="0">
                <a:latin typeface="Times New Roman" panose="02020603050405020304" pitchFamily="18" charset="0"/>
                <a:cs typeface="Times New Roman" panose="02020603050405020304" pitchFamily="18" charset="0"/>
              </a:rPr>
              <a:t>Gathers pollution parameters.</a:t>
            </a:r>
          </a:p>
          <a:p>
            <a:r>
              <a:rPr lang="en-IN" sz="2400" dirty="0">
                <a:latin typeface="Times New Roman" panose="02020603050405020304" pitchFamily="18" charset="0"/>
                <a:cs typeface="Times New Roman" panose="02020603050405020304" pitchFamily="18" charset="0"/>
              </a:rPr>
              <a:t>Stores historical pollution data.</a:t>
            </a:r>
          </a:p>
          <a:p>
            <a:r>
              <a:rPr lang="en-IN" sz="2400" dirty="0">
                <a:latin typeface="Times New Roman" panose="02020603050405020304" pitchFamily="18" charset="0"/>
                <a:cs typeface="Times New Roman" panose="02020603050405020304" pitchFamily="18" charset="0"/>
              </a:rPr>
              <a:t>Collects: </a:t>
            </a:r>
          </a:p>
          <a:p>
            <a:pPr lvl="1"/>
            <a:r>
              <a:rPr lang="en-IN" sz="2000" dirty="0">
                <a:latin typeface="Times New Roman" panose="02020603050405020304" pitchFamily="18" charset="0"/>
                <a:cs typeface="Times New Roman" panose="02020603050405020304" pitchFamily="18" charset="0"/>
              </a:rPr>
              <a:t>PM2.5 </a:t>
            </a:r>
          </a:p>
          <a:p>
            <a:pPr lvl="1"/>
            <a:r>
              <a:rPr lang="en-IN" sz="2000" dirty="0">
                <a:latin typeface="Times New Roman" panose="02020603050405020304" pitchFamily="18" charset="0"/>
                <a:cs typeface="Times New Roman" panose="02020603050405020304" pitchFamily="18" charset="0"/>
              </a:rPr>
              <a:t>PM10 </a:t>
            </a:r>
          </a:p>
          <a:p>
            <a:pPr lvl="1"/>
            <a:r>
              <a:rPr lang="en-IN" sz="2000" dirty="0">
                <a:latin typeface="Times New Roman" panose="02020603050405020304" pitchFamily="18" charset="0"/>
                <a:cs typeface="Times New Roman" panose="02020603050405020304" pitchFamily="18" charset="0"/>
              </a:rPr>
              <a:t>Temperature </a:t>
            </a:r>
          </a:p>
          <a:p>
            <a:pPr lvl="1"/>
            <a:r>
              <a:rPr lang="en-IN" sz="2000" dirty="0">
                <a:latin typeface="Times New Roman" panose="02020603050405020304" pitchFamily="18" charset="0"/>
                <a:cs typeface="Times New Roman" panose="02020603050405020304" pitchFamily="18" charset="0"/>
              </a:rPr>
              <a:t>Humidity </a:t>
            </a:r>
          </a:p>
          <a:p>
            <a:pPr lvl="1"/>
            <a:r>
              <a:rPr lang="en-IN" sz="2000" dirty="0">
                <a:latin typeface="Times New Roman" panose="02020603050405020304" pitchFamily="18" charset="0"/>
                <a:cs typeface="Times New Roman" panose="02020603050405020304" pitchFamily="18" charset="0"/>
              </a:rPr>
              <a:t>CO₂ </a:t>
            </a:r>
          </a:p>
          <a:p>
            <a:pPr lvl="1"/>
            <a:r>
              <a:rPr lang="en-IN" sz="2000" dirty="0">
                <a:latin typeface="Times New Roman" panose="02020603050405020304" pitchFamily="18" charset="0"/>
                <a:cs typeface="Times New Roman" panose="02020603050405020304" pitchFamily="18" charset="0"/>
              </a:rPr>
              <a:t>NO₂</a:t>
            </a:r>
          </a:p>
        </p:txBody>
      </p:sp>
      <p:pic>
        <p:nvPicPr>
          <p:cNvPr id="3" name="Picture 2" descr="Causes of Air Pollution - Environmental ...">
            <a:extLst>
              <a:ext uri="{FF2B5EF4-FFF2-40B4-BE49-F238E27FC236}">
                <a16:creationId xmlns:a16="http://schemas.microsoft.com/office/drawing/2014/main" id="{BE0F23EF-284D-36CF-623B-5FAB8E71D566}"/>
              </a:ext>
            </a:extLst>
          </p:cNvPr>
          <p:cNvPicPr>
            <a:picLocks noChangeAspect="1"/>
          </p:cNvPicPr>
          <p:nvPr/>
        </p:nvPicPr>
        <p:blipFill>
          <a:blip r:embed="rId4"/>
          <a:stretch>
            <a:fillRect/>
          </a:stretch>
        </p:blipFill>
        <p:spPr>
          <a:xfrm>
            <a:off x="6639818" y="2565717"/>
            <a:ext cx="4506972" cy="2808923"/>
          </a:xfrm>
          <a:prstGeom prst="rect">
            <a:avLst/>
          </a:prstGeom>
        </p:spPr>
      </p:pic>
    </p:spTree>
    <p:extLst>
      <p:ext uri="{BB962C8B-B14F-4D97-AF65-F5344CB8AC3E}">
        <p14:creationId xmlns:p14="http://schemas.microsoft.com/office/powerpoint/2010/main" val="70216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3DDBEA-D172-D652-627A-DF14C2CA929B}"/>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32801-773D-795B-4F0F-AB7861A032E5}"/>
              </a:ext>
            </a:extLst>
          </p:cNvPr>
          <p:cNvSpPr>
            <a:spLocks noGrp="1"/>
          </p:cNvSpPr>
          <p:nvPr>
            <p:ph type="title"/>
          </p:nvPr>
        </p:nvSpPr>
        <p:spPr>
          <a:xfrm>
            <a:off x="1036320" y="238539"/>
            <a:ext cx="9620194" cy="1434415"/>
          </a:xfrm>
        </p:spPr>
        <p:txBody>
          <a:bodyPr anchor="b">
            <a:noAutofit/>
          </a:bodyPr>
          <a:lstStyle/>
          <a:p>
            <a:r>
              <a:rPr lang="en-US" sz="4600" dirty="0">
                <a:latin typeface="Times New Roman" panose="02020603050405020304" pitchFamily="18" charset="0"/>
                <a:cs typeface="Times New Roman" panose="02020603050405020304" pitchFamily="18" charset="0"/>
              </a:rPr>
              <a:t>MODULE 2: </a:t>
            </a:r>
            <a:r>
              <a:rPr lang="en-IN" sz="4800" dirty="0"/>
              <a:t>Air Quality Analysis</a:t>
            </a:r>
            <a:endParaRPr lang="en-IN" sz="4600" dirty="0">
              <a:latin typeface="Times New Roman" panose="02020603050405020304" pitchFamily="18" charset="0"/>
              <a:cs typeface="Times New Roman" panose="02020603050405020304" pitchFamily="18" charset="0"/>
            </a:endParaRP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BA1DCA9F-FA67-D3DC-ADC6-EBAC299154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56514" y="110187"/>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38139218-1EA6-2C69-88EB-FC96462347D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9757" y="53813"/>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
            <a:extLst>
              <a:ext uri="{FF2B5EF4-FFF2-40B4-BE49-F238E27FC236}">
                <a16:creationId xmlns:a16="http://schemas.microsoft.com/office/drawing/2014/main" id="{480CF031-106E-BC36-9AB8-A16A05500F76}"/>
              </a:ext>
            </a:extLst>
          </p:cNvPr>
          <p:cNvSpPr>
            <a:spLocks noGrp="1" noChangeArrowheads="1"/>
          </p:cNvSpPr>
          <p:nvPr>
            <p:ph idx="1"/>
          </p:nvPr>
        </p:nvSpPr>
        <p:spPr bwMode="auto">
          <a:xfrm>
            <a:off x="607917" y="2645495"/>
            <a:ext cx="535600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Cleans pollution data.</a:t>
            </a:r>
          </a:p>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Removes missing values.</a:t>
            </a:r>
          </a:p>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Performs feature extraction.</a:t>
            </a:r>
          </a:p>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Analyzes pollution trends.</a:t>
            </a:r>
          </a:p>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Visualizes AQI patterns.</a:t>
            </a:r>
          </a:p>
          <a:p>
            <a:pPr lvl="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Identifies environmental changes.</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descr="Air Quality Index (AQI) Explained">
            <a:extLst>
              <a:ext uri="{FF2B5EF4-FFF2-40B4-BE49-F238E27FC236}">
                <a16:creationId xmlns:a16="http://schemas.microsoft.com/office/drawing/2014/main" id="{6FFB91C1-F844-C285-9FF7-35ECA4AF4005}"/>
              </a:ext>
            </a:extLst>
          </p:cNvPr>
          <p:cNvPicPr>
            <a:picLocks noChangeAspect="1"/>
          </p:cNvPicPr>
          <p:nvPr/>
        </p:nvPicPr>
        <p:blipFill>
          <a:blip r:embed="rId4"/>
          <a:stretch>
            <a:fillRect/>
          </a:stretch>
        </p:blipFill>
        <p:spPr>
          <a:xfrm>
            <a:off x="7093078" y="2724323"/>
            <a:ext cx="3637820" cy="2442916"/>
          </a:xfrm>
          <a:prstGeom prst="rect">
            <a:avLst/>
          </a:prstGeom>
        </p:spPr>
      </p:pic>
    </p:spTree>
    <p:extLst>
      <p:ext uri="{BB962C8B-B14F-4D97-AF65-F5344CB8AC3E}">
        <p14:creationId xmlns:p14="http://schemas.microsoft.com/office/powerpoint/2010/main" val="2083740583"/>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AC49C0-50E1-A342-8CD4-7F2D3A3A2931}"/>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CEE507-4921-B6DB-8F82-B7F14979DE2E}"/>
              </a:ext>
            </a:extLst>
          </p:cNvPr>
          <p:cNvSpPr>
            <a:spLocks noGrp="1"/>
          </p:cNvSpPr>
          <p:nvPr>
            <p:ph type="title"/>
          </p:nvPr>
        </p:nvSpPr>
        <p:spPr>
          <a:xfrm>
            <a:off x="1209040" y="238539"/>
            <a:ext cx="9694787" cy="1434415"/>
          </a:xfrm>
        </p:spPr>
        <p:txBody>
          <a:bodyPr anchor="b">
            <a:noAutofit/>
          </a:bodyPr>
          <a:lstStyle/>
          <a:p>
            <a:r>
              <a:rPr lang="en-US" sz="4600" dirty="0">
                <a:latin typeface="Times New Roman" panose="02020603050405020304" pitchFamily="18" charset="0"/>
                <a:cs typeface="Times New Roman" panose="02020603050405020304" pitchFamily="18" charset="0"/>
              </a:rPr>
              <a:t>MODULE 3: </a:t>
            </a:r>
            <a:r>
              <a:rPr lang="en-IN" sz="4800" dirty="0"/>
              <a:t>AQI Prediction</a:t>
            </a:r>
            <a:endParaRPr lang="en-IN" sz="4600" dirty="0">
              <a:latin typeface="Times New Roman" panose="02020603050405020304" pitchFamily="18" charset="0"/>
              <a:cs typeface="Times New Roman" panose="02020603050405020304" pitchFamily="18" charset="0"/>
            </a:endParaRPr>
          </a:p>
        </p:txBody>
      </p:sp>
      <p:sp>
        <p:nvSpPr>
          <p:cNvPr id="205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4F56AA94-DBE6-934B-B3CF-F3B977FFE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41280"/>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77FF7863-7E71-3844-0AF1-ABC1CF347AA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183" y="16449"/>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774D5061-F93A-AB54-810D-4B3338BCD161}"/>
              </a:ext>
            </a:extLst>
          </p:cNvPr>
          <p:cNvSpPr>
            <a:spLocks noChangeArrowheads="1"/>
          </p:cNvSpPr>
          <p:nvPr/>
        </p:nvSpPr>
        <p:spPr bwMode="auto">
          <a:xfrm>
            <a:off x="518161" y="2682859"/>
            <a:ext cx="448056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Predicts future AQI levels.</a:t>
            </a:r>
          </a:p>
          <a:p>
            <a:pPr marL="457200" lvl="0" indent="-45720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Uses trained AI models.</a:t>
            </a:r>
          </a:p>
          <a:p>
            <a:pPr marL="457200" lvl="0" indent="-45720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Applies Random Forest algorithm. </a:t>
            </a:r>
          </a:p>
          <a:p>
            <a:pPr marL="457200" lvl="0" indent="-45720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Applies LSTM algorithm.</a:t>
            </a:r>
          </a:p>
          <a:p>
            <a:pPr marL="457200" lvl="0" indent="-457200" defTabSz="9144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Generates accurate AQI forecasts.</a:t>
            </a: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Picture 2" descr="Air Quality Index (AQI) Explained">
            <a:extLst>
              <a:ext uri="{FF2B5EF4-FFF2-40B4-BE49-F238E27FC236}">
                <a16:creationId xmlns:a16="http://schemas.microsoft.com/office/drawing/2014/main" id="{D6468639-5B22-A111-DE56-3042DD678F6F}"/>
              </a:ext>
            </a:extLst>
          </p:cNvPr>
          <p:cNvPicPr>
            <a:picLocks noChangeAspect="1"/>
          </p:cNvPicPr>
          <p:nvPr/>
        </p:nvPicPr>
        <p:blipFill>
          <a:blip r:embed="rId4"/>
          <a:stretch>
            <a:fillRect/>
          </a:stretch>
        </p:blipFill>
        <p:spPr>
          <a:xfrm>
            <a:off x="6910198" y="2846243"/>
            <a:ext cx="3637820" cy="2442916"/>
          </a:xfrm>
          <a:prstGeom prst="rect">
            <a:avLst/>
          </a:prstGeom>
        </p:spPr>
      </p:pic>
    </p:spTree>
    <p:extLst>
      <p:ext uri="{BB962C8B-B14F-4D97-AF65-F5344CB8AC3E}">
        <p14:creationId xmlns:p14="http://schemas.microsoft.com/office/powerpoint/2010/main" val="69159997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22006E-4091-8C8B-235A-994059F5266C}"/>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2CBCFF21-53F7-7741-C1C4-CE9F872C2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4189F1-D354-060F-3560-D006F33A2351}"/>
              </a:ext>
            </a:extLst>
          </p:cNvPr>
          <p:cNvSpPr>
            <a:spLocks noGrp="1"/>
          </p:cNvSpPr>
          <p:nvPr>
            <p:ph type="title"/>
          </p:nvPr>
        </p:nvSpPr>
        <p:spPr>
          <a:xfrm>
            <a:off x="572343" y="238539"/>
            <a:ext cx="11015651" cy="1434415"/>
          </a:xfrm>
        </p:spPr>
        <p:txBody>
          <a:bodyPr anchor="b">
            <a:normAutofit/>
          </a:bodyPr>
          <a:lstStyle/>
          <a:p>
            <a:r>
              <a:rPr lang="en-IN" sz="5400" dirty="0">
                <a:latin typeface="Times New Roman" panose="02020603050405020304" pitchFamily="18" charset="0"/>
                <a:cs typeface="Times New Roman" panose="02020603050405020304" pitchFamily="18" charset="0"/>
              </a:rPr>
              <a:t>Conclusion</a:t>
            </a:r>
            <a:endParaRPr lang="en-IN" sz="5300" dirty="0">
              <a:latin typeface="Times New Roman" panose="02020603050405020304" pitchFamily="18" charset="0"/>
              <a:cs typeface="Times New Roman" panose="02020603050405020304" pitchFamily="18" charset="0"/>
            </a:endParaRPr>
          </a:p>
        </p:txBody>
      </p:sp>
      <p:sp>
        <p:nvSpPr>
          <p:cNvPr id="2057" name="sketchy line">
            <a:extLst>
              <a:ext uri="{FF2B5EF4-FFF2-40B4-BE49-F238E27FC236}">
                <a16:creationId xmlns:a16="http://schemas.microsoft.com/office/drawing/2014/main" id="{44F5F31F-DED9-67E7-6414-B56543244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C7CA206C-E85A-F8B3-EA2B-9EFAE3AF66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63467"/>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F1EF90E3-1DB8-19C9-FFF6-EB139949753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71" y="35917"/>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BCFB3C04-7C6B-DDB3-3931-98CFC8430A56}"/>
              </a:ext>
            </a:extLst>
          </p:cNvPr>
          <p:cNvSpPr>
            <a:spLocks noChangeArrowheads="1"/>
          </p:cNvSpPr>
          <p:nvPr/>
        </p:nvSpPr>
        <p:spPr bwMode="auto">
          <a:xfrm>
            <a:off x="518160" y="2965604"/>
            <a:ext cx="1106983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AQI prediction system was developed successfully.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Environmental data analytics improved monitoring.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LSTM and Random Forest enhanced prediction accuracy.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System supports pollution control activities.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Useful for smart city applications. </a:t>
            </a:r>
          </a:p>
        </p:txBody>
      </p:sp>
    </p:spTree>
    <p:extLst>
      <p:ext uri="{BB962C8B-B14F-4D97-AF65-F5344CB8AC3E}">
        <p14:creationId xmlns:p14="http://schemas.microsoft.com/office/powerpoint/2010/main" val="157026714"/>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716A48-B6A5-C17B-F4DC-DCDDDDFFDD21}"/>
            </a:ext>
          </a:extLst>
        </p:cNvPr>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6331D0CB-1BBE-3C17-15F6-2B6875BBE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EC998-380F-C0CD-9999-537D7DC302C7}"/>
              </a:ext>
            </a:extLst>
          </p:cNvPr>
          <p:cNvSpPr>
            <a:spLocks noGrp="1"/>
          </p:cNvSpPr>
          <p:nvPr>
            <p:ph type="title"/>
          </p:nvPr>
        </p:nvSpPr>
        <p:spPr>
          <a:xfrm>
            <a:off x="572343" y="238539"/>
            <a:ext cx="11015651" cy="1434415"/>
          </a:xfrm>
        </p:spPr>
        <p:txBody>
          <a:bodyPr anchor="b">
            <a:normAutofit/>
          </a:bodyPr>
          <a:lstStyle/>
          <a:p>
            <a:r>
              <a:rPr lang="en-IN" sz="5400" dirty="0">
                <a:latin typeface="Times New Roman" panose="02020603050405020304" pitchFamily="18" charset="0"/>
                <a:cs typeface="Times New Roman" panose="02020603050405020304" pitchFamily="18" charset="0"/>
              </a:rPr>
              <a:t>References</a:t>
            </a:r>
            <a:endParaRPr lang="en-IN" sz="5300" dirty="0">
              <a:latin typeface="Times New Roman" panose="02020603050405020304" pitchFamily="18" charset="0"/>
              <a:cs typeface="Times New Roman" panose="02020603050405020304" pitchFamily="18" charset="0"/>
            </a:endParaRPr>
          </a:p>
        </p:txBody>
      </p:sp>
      <p:sp>
        <p:nvSpPr>
          <p:cNvPr id="2057" name="sketchy line">
            <a:extLst>
              <a:ext uri="{FF2B5EF4-FFF2-40B4-BE49-F238E27FC236}">
                <a16:creationId xmlns:a16="http://schemas.microsoft.com/office/drawing/2014/main" id="{2C30705A-E520-ABE8-0045-E5F6E714F3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343" y="1681544"/>
            <a:ext cx="10969943" cy="18288"/>
          </a:xfrm>
          <a:custGeom>
            <a:avLst/>
            <a:gdLst>
              <a:gd name="csX0" fmla="*/ 0 w 10969943"/>
              <a:gd name="csY0" fmla="*/ 0 h 18288"/>
              <a:gd name="csX1" fmla="*/ 356523 w 10969943"/>
              <a:gd name="csY1" fmla="*/ 0 h 18288"/>
              <a:gd name="csX2" fmla="*/ 1042145 w 10969943"/>
              <a:gd name="csY2" fmla="*/ 0 h 18288"/>
              <a:gd name="csX3" fmla="*/ 1947165 w 10969943"/>
              <a:gd name="csY3" fmla="*/ 0 h 18288"/>
              <a:gd name="csX4" fmla="*/ 2632786 w 10969943"/>
              <a:gd name="csY4" fmla="*/ 0 h 18288"/>
              <a:gd name="csX5" fmla="*/ 2989309 w 10969943"/>
              <a:gd name="csY5" fmla="*/ 0 h 18288"/>
              <a:gd name="csX6" fmla="*/ 3455532 w 10969943"/>
              <a:gd name="csY6" fmla="*/ 0 h 18288"/>
              <a:gd name="csX7" fmla="*/ 4360552 w 10969943"/>
              <a:gd name="csY7" fmla="*/ 0 h 18288"/>
              <a:gd name="csX8" fmla="*/ 5265573 w 10969943"/>
              <a:gd name="csY8" fmla="*/ 0 h 18288"/>
              <a:gd name="csX9" fmla="*/ 6170593 w 10969943"/>
              <a:gd name="csY9" fmla="*/ 0 h 18288"/>
              <a:gd name="csX10" fmla="*/ 6527116 w 10969943"/>
              <a:gd name="csY10" fmla="*/ 0 h 18288"/>
              <a:gd name="csX11" fmla="*/ 7212738 w 10969943"/>
              <a:gd name="csY11" fmla="*/ 0 h 18288"/>
              <a:gd name="csX12" fmla="*/ 7788660 w 10969943"/>
              <a:gd name="csY12" fmla="*/ 0 h 18288"/>
              <a:gd name="csX13" fmla="*/ 8145183 w 10969943"/>
              <a:gd name="csY13" fmla="*/ 0 h 18288"/>
              <a:gd name="csX14" fmla="*/ 9050203 w 10969943"/>
              <a:gd name="csY14" fmla="*/ 0 h 18288"/>
              <a:gd name="csX15" fmla="*/ 9406726 w 10969943"/>
              <a:gd name="csY15" fmla="*/ 0 h 18288"/>
              <a:gd name="csX16" fmla="*/ 9763249 w 10969943"/>
              <a:gd name="csY16" fmla="*/ 0 h 18288"/>
              <a:gd name="csX17" fmla="*/ 10339171 w 10969943"/>
              <a:gd name="csY17" fmla="*/ 0 h 18288"/>
              <a:gd name="csX18" fmla="*/ 10969943 w 10969943"/>
              <a:gd name="csY18" fmla="*/ 0 h 18288"/>
              <a:gd name="csX19" fmla="*/ 10969943 w 10969943"/>
              <a:gd name="csY19" fmla="*/ 18288 h 18288"/>
              <a:gd name="csX20" fmla="*/ 10174622 w 10969943"/>
              <a:gd name="csY20" fmla="*/ 18288 h 18288"/>
              <a:gd name="csX21" fmla="*/ 9818099 w 10969943"/>
              <a:gd name="csY21" fmla="*/ 18288 h 18288"/>
              <a:gd name="csX22" fmla="*/ 9461576 w 10969943"/>
              <a:gd name="csY22" fmla="*/ 18288 h 18288"/>
              <a:gd name="csX23" fmla="*/ 8775954 w 10969943"/>
              <a:gd name="csY23" fmla="*/ 18288 h 18288"/>
              <a:gd name="csX24" fmla="*/ 8419431 w 10969943"/>
              <a:gd name="csY24" fmla="*/ 18288 h 18288"/>
              <a:gd name="csX25" fmla="*/ 7733810 w 10969943"/>
              <a:gd name="csY25" fmla="*/ 18288 h 18288"/>
              <a:gd name="csX26" fmla="*/ 6938489 w 10969943"/>
              <a:gd name="csY26" fmla="*/ 18288 h 18288"/>
              <a:gd name="csX27" fmla="*/ 6252868 w 10969943"/>
              <a:gd name="csY27" fmla="*/ 18288 h 18288"/>
              <a:gd name="csX28" fmla="*/ 5457547 w 10969943"/>
              <a:gd name="csY28" fmla="*/ 18288 h 18288"/>
              <a:gd name="csX29" fmla="*/ 4662226 w 10969943"/>
              <a:gd name="csY29" fmla="*/ 18288 h 18288"/>
              <a:gd name="csX30" fmla="*/ 4305703 w 10969943"/>
              <a:gd name="csY30" fmla="*/ 18288 h 18288"/>
              <a:gd name="csX31" fmla="*/ 3839480 w 10969943"/>
              <a:gd name="csY31" fmla="*/ 18288 h 18288"/>
              <a:gd name="csX32" fmla="*/ 3263558 w 10969943"/>
              <a:gd name="csY32" fmla="*/ 18288 h 18288"/>
              <a:gd name="csX33" fmla="*/ 2577937 w 10969943"/>
              <a:gd name="csY33" fmla="*/ 18288 h 18288"/>
              <a:gd name="csX34" fmla="*/ 1672916 w 10969943"/>
              <a:gd name="csY34" fmla="*/ 18288 h 18288"/>
              <a:gd name="csX35" fmla="*/ 877595 w 10969943"/>
              <a:gd name="csY35" fmla="*/ 18288 h 18288"/>
              <a:gd name="csX36" fmla="*/ 0 w 10969943"/>
              <a:gd name="csY36" fmla="*/ 18288 h 18288"/>
              <a:gd name="csX37" fmla="*/ 0 w 10969943"/>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69943" h="18288" fill="none" extrusionOk="0">
                <a:moveTo>
                  <a:pt x="0" y="0"/>
                </a:moveTo>
                <a:cubicBezTo>
                  <a:pt x="115068" y="-17626"/>
                  <a:pt x="181295" y="-1066"/>
                  <a:pt x="356523" y="0"/>
                </a:cubicBezTo>
                <a:cubicBezTo>
                  <a:pt x="531751" y="1066"/>
                  <a:pt x="815866" y="1625"/>
                  <a:pt x="1042145" y="0"/>
                </a:cubicBezTo>
                <a:cubicBezTo>
                  <a:pt x="1268424" y="-1625"/>
                  <a:pt x="1698286" y="4657"/>
                  <a:pt x="1947165" y="0"/>
                </a:cubicBezTo>
                <a:cubicBezTo>
                  <a:pt x="2196044" y="-4657"/>
                  <a:pt x="2296755" y="-4417"/>
                  <a:pt x="2632786" y="0"/>
                </a:cubicBezTo>
                <a:cubicBezTo>
                  <a:pt x="2968817" y="4417"/>
                  <a:pt x="2846408" y="12256"/>
                  <a:pt x="2989309" y="0"/>
                </a:cubicBezTo>
                <a:cubicBezTo>
                  <a:pt x="3132210" y="-12256"/>
                  <a:pt x="3306453" y="-8334"/>
                  <a:pt x="3455532" y="0"/>
                </a:cubicBezTo>
                <a:cubicBezTo>
                  <a:pt x="3604611" y="8334"/>
                  <a:pt x="4114719" y="-14000"/>
                  <a:pt x="4360552" y="0"/>
                </a:cubicBezTo>
                <a:cubicBezTo>
                  <a:pt x="4606385" y="14000"/>
                  <a:pt x="4922057" y="-39073"/>
                  <a:pt x="5265573" y="0"/>
                </a:cubicBezTo>
                <a:cubicBezTo>
                  <a:pt x="5609089" y="39073"/>
                  <a:pt x="5808150" y="6840"/>
                  <a:pt x="6170593" y="0"/>
                </a:cubicBezTo>
                <a:cubicBezTo>
                  <a:pt x="6533036" y="-6840"/>
                  <a:pt x="6450248" y="-15144"/>
                  <a:pt x="6527116" y="0"/>
                </a:cubicBezTo>
                <a:cubicBezTo>
                  <a:pt x="6603984" y="15144"/>
                  <a:pt x="7072831" y="7051"/>
                  <a:pt x="7212738" y="0"/>
                </a:cubicBezTo>
                <a:cubicBezTo>
                  <a:pt x="7352645" y="-7051"/>
                  <a:pt x="7607286" y="-16640"/>
                  <a:pt x="7788660" y="0"/>
                </a:cubicBezTo>
                <a:cubicBezTo>
                  <a:pt x="7970034" y="16640"/>
                  <a:pt x="8047563" y="15757"/>
                  <a:pt x="8145183" y="0"/>
                </a:cubicBezTo>
                <a:cubicBezTo>
                  <a:pt x="8242803" y="-15757"/>
                  <a:pt x="8648204" y="-40337"/>
                  <a:pt x="9050203" y="0"/>
                </a:cubicBezTo>
                <a:cubicBezTo>
                  <a:pt x="9452202" y="40337"/>
                  <a:pt x="9259174" y="17409"/>
                  <a:pt x="9406726" y="0"/>
                </a:cubicBezTo>
                <a:cubicBezTo>
                  <a:pt x="9554278" y="-17409"/>
                  <a:pt x="9674843" y="17205"/>
                  <a:pt x="9763249" y="0"/>
                </a:cubicBezTo>
                <a:cubicBezTo>
                  <a:pt x="9851655" y="-17205"/>
                  <a:pt x="10141234" y="7298"/>
                  <a:pt x="10339171" y="0"/>
                </a:cubicBezTo>
                <a:cubicBezTo>
                  <a:pt x="10537108" y="-7298"/>
                  <a:pt x="10748288" y="8183"/>
                  <a:pt x="10969943" y="0"/>
                </a:cubicBezTo>
                <a:cubicBezTo>
                  <a:pt x="10969289" y="8818"/>
                  <a:pt x="10969383" y="13823"/>
                  <a:pt x="10969943" y="18288"/>
                </a:cubicBezTo>
                <a:cubicBezTo>
                  <a:pt x="10684728" y="24301"/>
                  <a:pt x="10444950" y="41841"/>
                  <a:pt x="10174622" y="18288"/>
                </a:cubicBezTo>
                <a:cubicBezTo>
                  <a:pt x="9904294" y="-5265"/>
                  <a:pt x="9936432" y="5587"/>
                  <a:pt x="9818099" y="18288"/>
                </a:cubicBezTo>
                <a:cubicBezTo>
                  <a:pt x="9699766" y="30989"/>
                  <a:pt x="9533517" y="3530"/>
                  <a:pt x="9461576" y="18288"/>
                </a:cubicBezTo>
                <a:cubicBezTo>
                  <a:pt x="9389635" y="33046"/>
                  <a:pt x="9096372" y="36774"/>
                  <a:pt x="8775954" y="18288"/>
                </a:cubicBezTo>
                <a:cubicBezTo>
                  <a:pt x="8455536" y="-198"/>
                  <a:pt x="8578076" y="29533"/>
                  <a:pt x="8419431" y="18288"/>
                </a:cubicBezTo>
                <a:cubicBezTo>
                  <a:pt x="8260786" y="7043"/>
                  <a:pt x="7872278" y="50718"/>
                  <a:pt x="7733810" y="18288"/>
                </a:cubicBezTo>
                <a:cubicBezTo>
                  <a:pt x="7595342" y="-14142"/>
                  <a:pt x="7102646" y="18057"/>
                  <a:pt x="6938489" y="18288"/>
                </a:cubicBezTo>
                <a:cubicBezTo>
                  <a:pt x="6774332" y="18519"/>
                  <a:pt x="6407744" y="-5300"/>
                  <a:pt x="6252868" y="18288"/>
                </a:cubicBezTo>
                <a:cubicBezTo>
                  <a:pt x="6097992" y="41876"/>
                  <a:pt x="5636320" y="33556"/>
                  <a:pt x="5457547" y="18288"/>
                </a:cubicBezTo>
                <a:cubicBezTo>
                  <a:pt x="5278774" y="3020"/>
                  <a:pt x="4838109" y="-3159"/>
                  <a:pt x="4662226" y="18288"/>
                </a:cubicBezTo>
                <a:cubicBezTo>
                  <a:pt x="4486343" y="39735"/>
                  <a:pt x="4462017" y="3772"/>
                  <a:pt x="4305703" y="18288"/>
                </a:cubicBezTo>
                <a:cubicBezTo>
                  <a:pt x="4149389" y="32804"/>
                  <a:pt x="3988613" y="20541"/>
                  <a:pt x="3839480" y="18288"/>
                </a:cubicBezTo>
                <a:cubicBezTo>
                  <a:pt x="3690347" y="16035"/>
                  <a:pt x="3435664" y="19648"/>
                  <a:pt x="3263558" y="18288"/>
                </a:cubicBezTo>
                <a:cubicBezTo>
                  <a:pt x="3091452" y="16928"/>
                  <a:pt x="2809539" y="23488"/>
                  <a:pt x="2577937" y="18288"/>
                </a:cubicBezTo>
                <a:cubicBezTo>
                  <a:pt x="2346335" y="13088"/>
                  <a:pt x="1873171" y="35259"/>
                  <a:pt x="1672916" y="18288"/>
                </a:cubicBezTo>
                <a:cubicBezTo>
                  <a:pt x="1472661" y="1317"/>
                  <a:pt x="1106398" y="29309"/>
                  <a:pt x="877595" y="18288"/>
                </a:cubicBezTo>
                <a:cubicBezTo>
                  <a:pt x="648792" y="7267"/>
                  <a:pt x="325373" y="27915"/>
                  <a:pt x="0" y="18288"/>
                </a:cubicBezTo>
                <a:cubicBezTo>
                  <a:pt x="313" y="10654"/>
                  <a:pt x="-263" y="4056"/>
                  <a:pt x="0" y="0"/>
                </a:cubicBezTo>
                <a:close/>
              </a:path>
              <a:path w="10969943" h="18288" stroke="0" extrusionOk="0">
                <a:moveTo>
                  <a:pt x="0" y="0"/>
                </a:moveTo>
                <a:cubicBezTo>
                  <a:pt x="146585" y="18368"/>
                  <a:pt x="312684" y="-22165"/>
                  <a:pt x="466223" y="0"/>
                </a:cubicBezTo>
                <a:cubicBezTo>
                  <a:pt x="619762" y="22165"/>
                  <a:pt x="680079" y="6491"/>
                  <a:pt x="822746" y="0"/>
                </a:cubicBezTo>
                <a:cubicBezTo>
                  <a:pt x="965413" y="-6491"/>
                  <a:pt x="1137334" y="-16632"/>
                  <a:pt x="1288968" y="0"/>
                </a:cubicBezTo>
                <a:cubicBezTo>
                  <a:pt x="1440602" y="16632"/>
                  <a:pt x="1781495" y="-7702"/>
                  <a:pt x="1974590" y="0"/>
                </a:cubicBezTo>
                <a:cubicBezTo>
                  <a:pt x="2167685" y="7702"/>
                  <a:pt x="2560711" y="-35858"/>
                  <a:pt x="2769911" y="0"/>
                </a:cubicBezTo>
                <a:cubicBezTo>
                  <a:pt x="2979111" y="35858"/>
                  <a:pt x="3321487" y="-10129"/>
                  <a:pt x="3674931" y="0"/>
                </a:cubicBezTo>
                <a:cubicBezTo>
                  <a:pt x="4028375" y="10129"/>
                  <a:pt x="4166008" y="12710"/>
                  <a:pt x="4579951" y="0"/>
                </a:cubicBezTo>
                <a:cubicBezTo>
                  <a:pt x="4993894" y="-12710"/>
                  <a:pt x="5014715" y="13808"/>
                  <a:pt x="5155873" y="0"/>
                </a:cubicBezTo>
                <a:cubicBezTo>
                  <a:pt x="5297031" y="-13808"/>
                  <a:pt x="5587899" y="-37129"/>
                  <a:pt x="5951194" y="0"/>
                </a:cubicBezTo>
                <a:cubicBezTo>
                  <a:pt x="6314489" y="37129"/>
                  <a:pt x="6294202" y="-5387"/>
                  <a:pt x="6636816" y="0"/>
                </a:cubicBezTo>
                <a:cubicBezTo>
                  <a:pt x="6979430" y="5387"/>
                  <a:pt x="6967473" y="2708"/>
                  <a:pt x="7212738" y="0"/>
                </a:cubicBezTo>
                <a:cubicBezTo>
                  <a:pt x="7458003" y="-2708"/>
                  <a:pt x="7685326" y="-19121"/>
                  <a:pt x="8008058" y="0"/>
                </a:cubicBezTo>
                <a:cubicBezTo>
                  <a:pt x="8330790" y="19121"/>
                  <a:pt x="8271729" y="11892"/>
                  <a:pt x="8364582" y="0"/>
                </a:cubicBezTo>
                <a:cubicBezTo>
                  <a:pt x="8457435" y="-11892"/>
                  <a:pt x="8757037" y="21045"/>
                  <a:pt x="8940504" y="0"/>
                </a:cubicBezTo>
                <a:cubicBezTo>
                  <a:pt x="9123971" y="-21045"/>
                  <a:pt x="9416535" y="-20173"/>
                  <a:pt x="9626125" y="0"/>
                </a:cubicBezTo>
                <a:cubicBezTo>
                  <a:pt x="9835715" y="20173"/>
                  <a:pt x="10677668" y="-5185"/>
                  <a:pt x="10969943" y="0"/>
                </a:cubicBezTo>
                <a:cubicBezTo>
                  <a:pt x="10969329" y="5722"/>
                  <a:pt x="10970123" y="12495"/>
                  <a:pt x="10969943" y="18288"/>
                </a:cubicBezTo>
                <a:cubicBezTo>
                  <a:pt x="10866819" y="39718"/>
                  <a:pt x="10714728" y="21946"/>
                  <a:pt x="10503720" y="18288"/>
                </a:cubicBezTo>
                <a:cubicBezTo>
                  <a:pt x="10292712" y="14630"/>
                  <a:pt x="10234648" y="28092"/>
                  <a:pt x="10147197" y="18288"/>
                </a:cubicBezTo>
                <a:cubicBezTo>
                  <a:pt x="10059746" y="8484"/>
                  <a:pt x="9715084" y="15375"/>
                  <a:pt x="9461576" y="18288"/>
                </a:cubicBezTo>
                <a:cubicBezTo>
                  <a:pt x="9208068" y="21201"/>
                  <a:pt x="9173104" y="33334"/>
                  <a:pt x="8995353" y="18288"/>
                </a:cubicBezTo>
                <a:cubicBezTo>
                  <a:pt x="8817602" y="3242"/>
                  <a:pt x="8517144" y="-1921"/>
                  <a:pt x="8090333" y="18288"/>
                </a:cubicBezTo>
                <a:cubicBezTo>
                  <a:pt x="7663522" y="38497"/>
                  <a:pt x="7849521" y="20360"/>
                  <a:pt x="7733810" y="18288"/>
                </a:cubicBezTo>
                <a:cubicBezTo>
                  <a:pt x="7618099" y="16216"/>
                  <a:pt x="7340642" y="20318"/>
                  <a:pt x="7048188" y="18288"/>
                </a:cubicBezTo>
                <a:cubicBezTo>
                  <a:pt x="6755734" y="16258"/>
                  <a:pt x="6823832" y="8783"/>
                  <a:pt x="6691665" y="18288"/>
                </a:cubicBezTo>
                <a:cubicBezTo>
                  <a:pt x="6559498" y="27793"/>
                  <a:pt x="6360282" y="40769"/>
                  <a:pt x="6225443" y="18288"/>
                </a:cubicBezTo>
                <a:cubicBezTo>
                  <a:pt x="6090604" y="-4193"/>
                  <a:pt x="5695649" y="-6635"/>
                  <a:pt x="5430122" y="18288"/>
                </a:cubicBezTo>
                <a:cubicBezTo>
                  <a:pt x="5164595" y="43211"/>
                  <a:pt x="4850642" y="14859"/>
                  <a:pt x="4525101" y="18288"/>
                </a:cubicBezTo>
                <a:cubicBezTo>
                  <a:pt x="4199560" y="21717"/>
                  <a:pt x="4181533" y="40893"/>
                  <a:pt x="4058879" y="18288"/>
                </a:cubicBezTo>
                <a:cubicBezTo>
                  <a:pt x="3936225" y="-4317"/>
                  <a:pt x="3697170" y="32422"/>
                  <a:pt x="3373257" y="18288"/>
                </a:cubicBezTo>
                <a:cubicBezTo>
                  <a:pt x="3049344" y="4154"/>
                  <a:pt x="3034289" y="-3718"/>
                  <a:pt x="2907035" y="18288"/>
                </a:cubicBezTo>
                <a:cubicBezTo>
                  <a:pt x="2779781" y="40294"/>
                  <a:pt x="2424906" y="20309"/>
                  <a:pt x="2111714" y="18288"/>
                </a:cubicBezTo>
                <a:cubicBezTo>
                  <a:pt x="1798522" y="16267"/>
                  <a:pt x="1727137" y="16361"/>
                  <a:pt x="1535792" y="18288"/>
                </a:cubicBezTo>
                <a:cubicBezTo>
                  <a:pt x="1344447" y="20215"/>
                  <a:pt x="1206952" y="-4630"/>
                  <a:pt x="1069569" y="18288"/>
                </a:cubicBezTo>
                <a:cubicBezTo>
                  <a:pt x="932186" y="41206"/>
                  <a:pt x="856529" y="11019"/>
                  <a:pt x="713046" y="18288"/>
                </a:cubicBezTo>
                <a:cubicBezTo>
                  <a:pt x="569563" y="25557"/>
                  <a:pt x="291290" y="4640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Saveetha Institute of Medical and Technical Sciences -SIMATS | Chennai">
            <a:extLst>
              <a:ext uri="{FF2B5EF4-FFF2-40B4-BE49-F238E27FC236}">
                <a16:creationId xmlns:a16="http://schemas.microsoft.com/office/drawing/2014/main" id="{C43954C3-B24E-7FF3-DE81-1167DF0D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03827" y="63467"/>
            <a:ext cx="1256510" cy="125651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Saveetha School of Engineering: Courses, Admission 2025, Fees, Scholarship,  Placements, Ranking">
            <a:extLst>
              <a:ext uri="{FF2B5EF4-FFF2-40B4-BE49-F238E27FC236}">
                <a16:creationId xmlns:a16="http://schemas.microsoft.com/office/drawing/2014/main" id="{C09B8679-86D7-3261-1C9D-A1BCFB19CD7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183" y="9654"/>
            <a:ext cx="1036320" cy="13641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CBBE2F73-3FED-3444-E500-B5C0A528A4EA}"/>
              </a:ext>
            </a:extLst>
          </p:cNvPr>
          <p:cNvSpPr txBox="1"/>
          <p:nvPr/>
        </p:nvSpPr>
        <p:spPr>
          <a:xfrm>
            <a:off x="572343" y="1848026"/>
            <a:ext cx="11275528" cy="4524315"/>
          </a:xfrm>
          <a:prstGeom prst="rect">
            <a:avLst/>
          </a:prstGeom>
          <a:noFill/>
        </p:spPr>
        <p:txBody>
          <a:bodyPr wrap="square" rtlCol="0">
            <a:spAutoFit/>
          </a:bodyPr>
          <a:lstStyle/>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Hameed, S., Islam, A., Ahmad, K., </a:t>
            </a:r>
            <a:r>
              <a:rPr lang="en-IN" dirty="0" err="1">
                <a:latin typeface="Times New Roman" panose="02020603050405020304" pitchFamily="18" charset="0"/>
                <a:cs typeface="Times New Roman" panose="02020603050405020304" pitchFamily="18" charset="0"/>
              </a:rPr>
              <a:t>Belhaouari</a:t>
            </a:r>
            <a:r>
              <a:rPr lang="en-IN" dirty="0">
                <a:latin typeface="Times New Roman" panose="02020603050405020304" pitchFamily="18" charset="0"/>
                <a:cs typeface="Times New Roman" panose="02020603050405020304" pitchFamily="18" charset="0"/>
              </a:rPr>
              <a:t>, S. B., Qadir, J., &amp; Al-Fuqaha, A. (2023). Deep learning based multimodal urban air quality prediction and traffic analytics. </a:t>
            </a:r>
            <a:r>
              <a:rPr lang="en-IN" i="1" dirty="0">
                <a:latin typeface="Times New Roman" panose="02020603050405020304" pitchFamily="18" charset="0"/>
                <a:cs typeface="Times New Roman" panose="02020603050405020304" pitchFamily="18" charset="0"/>
              </a:rPr>
              <a:t>Scientific Reports</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13</a:t>
            </a:r>
            <a:r>
              <a:rPr lang="en-IN" dirty="0">
                <a:latin typeface="Times New Roman" panose="02020603050405020304" pitchFamily="18" charset="0"/>
                <a:cs typeface="Times New Roman" panose="02020603050405020304" pitchFamily="18" charset="0"/>
              </a:rPr>
              <a:t>(1), 22181.</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Osman, N., </a:t>
            </a:r>
            <a:r>
              <a:rPr lang="en-US" dirty="0" err="1">
                <a:latin typeface="Times New Roman" panose="02020603050405020304" pitchFamily="18" charset="0"/>
                <a:cs typeface="Times New Roman" panose="02020603050405020304" pitchFamily="18" charset="0"/>
              </a:rPr>
              <a:t>Jamlos</a:t>
            </a:r>
            <a:r>
              <a:rPr lang="en-US" dirty="0">
                <a:latin typeface="Times New Roman" panose="02020603050405020304" pitchFamily="18" charset="0"/>
                <a:cs typeface="Times New Roman" panose="02020603050405020304" pitchFamily="18" charset="0"/>
              </a:rPr>
              <a:t>, M. F., </a:t>
            </a:r>
            <a:r>
              <a:rPr lang="en-US" dirty="0" err="1">
                <a:latin typeface="Times New Roman" panose="02020603050405020304" pitchFamily="18" charset="0"/>
                <a:cs typeface="Times New Roman" panose="02020603050405020304" pitchFamily="18" charset="0"/>
              </a:rPr>
              <a:t>Dzaharudin</a:t>
            </a:r>
            <a:r>
              <a:rPr lang="en-US" dirty="0">
                <a:latin typeface="Times New Roman" panose="02020603050405020304" pitchFamily="18" charset="0"/>
                <a:cs typeface="Times New Roman" panose="02020603050405020304" pitchFamily="18" charset="0"/>
              </a:rPr>
              <a:t>, F., Khan, A. R., Yeow, Y. K., &amp; Khairi, K. A. (2021). Real-time and predictive analytics of air quality with </a:t>
            </a:r>
            <a:r>
              <a:rPr lang="en-US" dirty="0" err="1">
                <a:latin typeface="Times New Roman" panose="02020603050405020304" pitchFamily="18" charset="0"/>
                <a:cs typeface="Times New Roman" panose="02020603050405020304" pitchFamily="18" charset="0"/>
              </a:rPr>
              <a:t>iot</a:t>
            </a:r>
            <a:r>
              <a:rPr lang="en-US" dirty="0">
                <a:latin typeface="Times New Roman" panose="02020603050405020304" pitchFamily="18" charset="0"/>
                <a:cs typeface="Times New Roman" panose="02020603050405020304" pitchFamily="18" charset="0"/>
              </a:rPr>
              <a:t> system: A review. </a:t>
            </a:r>
            <a:r>
              <a:rPr lang="en-US" i="1" dirty="0">
                <a:latin typeface="Times New Roman" panose="02020603050405020304" pitchFamily="18" charset="0"/>
                <a:cs typeface="Times New Roman" panose="02020603050405020304" pitchFamily="18" charset="0"/>
              </a:rPr>
              <a:t>Recent Trends in Mechatronics Towards Industry 4.0: Selected Articles from iM3F 2020, Malaysia</a:t>
            </a:r>
            <a:r>
              <a:rPr lang="en-US" dirty="0">
                <a:latin typeface="Times New Roman" panose="02020603050405020304" pitchFamily="18" charset="0"/>
                <a:cs typeface="Times New Roman" panose="02020603050405020304" pitchFamily="18" charset="0"/>
              </a:rPr>
              <a:t>, 107-116.</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Hamza, M. A., Shaiba, H., Marzouk, R., Alhindi, A., Asiri, M. M., Yaseen, I., ... &amp; </a:t>
            </a:r>
            <a:r>
              <a:rPr lang="en-IN" dirty="0" err="1">
                <a:latin typeface="Times New Roman" panose="02020603050405020304" pitchFamily="18" charset="0"/>
                <a:cs typeface="Times New Roman" panose="02020603050405020304" pitchFamily="18" charset="0"/>
              </a:rPr>
              <a:t>Rizwanullah</a:t>
            </a:r>
            <a:r>
              <a:rPr lang="en-IN" dirty="0">
                <a:latin typeface="Times New Roman" panose="02020603050405020304" pitchFamily="18" charset="0"/>
                <a:cs typeface="Times New Roman" panose="02020603050405020304" pitchFamily="18" charset="0"/>
              </a:rPr>
              <a:t>, M. (2022). Big Data Analytics with Artificial Intelligence Enabled Environmental Air Pollution Monitoring Framework. </a:t>
            </a:r>
            <a:r>
              <a:rPr lang="en-IN" i="1" dirty="0">
                <a:latin typeface="Times New Roman" panose="02020603050405020304" pitchFamily="18" charset="0"/>
                <a:cs typeface="Times New Roman" panose="02020603050405020304" pitchFamily="18" charset="0"/>
              </a:rPr>
              <a:t>Computers, Materials &amp; Continua</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73</a:t>
            </a:r>
            <a:r>
              <a:rPr lang="en-IN" dirty="0">
                <a:latin typeface="Times New Roman" panose="02020603050405020304" pitchFamily="18" charset="0"/>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Iskandaryan, D., Ramos, F., &amp; </a:t>
            </a:r>
            <a:r>
              <a:rPr lang="en-US" dirty="0" err="1">
                <a:latin typeface="Times New Roman" panose="02020603050405020304" pitchFamily="18" charset="0"/>
                <a:cs typeface="Times New Roman" panose="02020603050405020304" pitchFamily="18" charset="0"/>
              </a:rPr>
              <a:t>Trilles</a:t>
            </a:r>
            <a:r>
              <a:rPr lang="en-US" dirty="0">
                <a:latin typeface="Times New Roman" panose="02020603050405020304" pitchFamily="18" charset="0"/>
                <a:cs typeface="Times New Roman" panose="02020603050405020304" pitchFamily="18" charset="0"/>
              </a:rPr>
              <a:t>, S. (2020). Air quality prediction in smart cities using machine learning technologies based on sensor data: a review. </a:t>
            </a:r>
            <a:r>
              <a:rPr lang="en-US" i="1" dirty="0">
                <a:latin typeface="Times New Roman" panose="02020603050405020304" pitchFamily="18" charset="0"/>
                <a:cs typeface="Times New Roman" panose="02020603050405020304" pitchFamily="18" charset="0"/>
              </a:rPr>
              <a:t>Applied Sciences</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10</a:t>
            </a:r>
            <a:r>
              <a:rPr lang="en-US" dirty="0">
                <a:latin typeface="Times New Roman" panose="02020603050405020304" pitchFamily="18" charset="0"/>
                <a:cs typeface="Times New Roman" panose="02020603050405020304" pitchFamily="18" charset="0"/>
              </a:rPr>
              <a:t>(7), 2401.</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Shah, S., Patel, Y., Panchal, K., Gandhi, P., Patel, P. and Desai, A., 2021, April. Python and MySQL based smart digital retail management system. In </a:t>
            </a:r>
            <a:r>
              <a:rPr lang="en-IN" i="1" dirty="0">
                <a:latin typeface="Times New Roman" panose="02020603050405020304" pitchFamily="18" charset="0"/>
                <a:cs typeface="Times New Roman" panose="02020603050405020304" pitchFamily="18" charset="0"/>
              </a:rPr>
              <a:t>2021 6th International Conference for Convergence in Technology (I2CT)</a:t>
            </a:r>
            <a:r>
              <a:rPr lang="en-IN" dirty="0">
                <a:latin typeface="Times New Roman" panose="02020603050405020304" pitchFamily="18" charset="0"/>
                <a:cs typeface="Times New Roman" panose="02020603050405020304" pitchFamily="18" charset="0"/>
              </a:rPr>
              <a:t> (pp. 1-6). IEEE. </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AMURU, I. and </a:t>
            </a:r>
            <a:r>
              <a:rPr lang="en-IN" dirty="0" err="1">
                <a:latin typeface="Times New Roman" panose="02020603050405020304" pitchFamily="18" charset="0"/>
                <a:cs typeface="Times New Roman" panose="02020603050405020304" pitchFamily="18" charset="0"/>
              </a:rPr>
              <a:t>Dzikrillah</a:t>
            </a:r>
            <a:r>
              <a:rPr lang="en-IN" dirty="0">
                <a:latin typeface="Times New Roman" panose="02020603050405020304" pitchFamily="18" charset="0"/>
                <a:cs typeface="Times New Roman" panose="02020603050405020304" pitchFamily="18" charset="0"/>
              </a:rPr>
              <a:t>, A.R., 2024. Database-Based Gui System To Increase The Effectiveness Of Student Data Management In The </a:t>
            </a:r>
            <a:r>
              <a:rPr lang="en-IN" dirty="0" err="1">
                <a:latin typeface="Times New Roman" panose="02020603050405020304" pitchFamily="18" charset="0"/>
                <a:cs typeface="Times New Roman" panose="02020603050405020304" pitchFamily="18" charset="0"/>
              </a:rPr>
              <a:t>Fkip</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Uhamka</a:t>
            </a:r>
            <a:r>
              <a:rPr lang="en-IN" dirty="0">
                <a:latin typeface="Times New Roman" panose="02020603050405020304" pitchFamily="18" charset="0"/>
                <a:cs typeface="Times New Roman" panose="02020603050405020304" pitchFamily="18" charset="0"/>
              </a:rPr>
              <a:t> Dormitory. </a:t>
            </a:r>
            <a:r>
              <a:rPr lang="en-IN" i="1" dirty="0" err="1">
                <a:latin typeface="Times New Roman" panose="02020603050405020304" pitchFamily="18" charset="0"/>
                <a:cs typeface="Times New Roman" panose="02020603050405020304" pitchFamily="18" charset="0"/>
              </a:rPr>
              <a:t>Jurnal</a:t>
            </a:r>
            <a:r>
              <a:rPr lang="en-IN" i="1" dirty="0">
                <a:latin typeface="Times New Roman" panose="02020603050405020304" pitchFamily="18" charset="0"/>
                <a:cs typeface="Times New Roman" panose="02020603050405020304" pitchFamily="18" charset="0"/>
              </a:rPr>
              <a:t> Teknik </a:t>
            </a:r>
            <a:r>
              <a:rPr lang="en-IN" i="1" dirty="0" err="1">
                <a:latin typeface="Times New Roman" panose="02020603050405020304" pitchFamily="18" charset="0"/>
                <a:cs typeface="Times New Roman" panose="02020603050405020304" pitchFamily="18" charset="0"/>
              </a:rPr>
              <a:t>Informatika</a:t>
            </a:r>
            <a:r>
              <a:rPr lang="en-IN" i="1" dirty="0">
                <a:latin typeface="Times New Roman" panose="02020603050405020304" pitchFamily="18" charset="0"/>
                <a:cs typeface="Times New Roman" panose="02020603050405020304" pitchFamily="18" charset="0"/>
              </a:rPr>
              <a:t> (</a:t>
            </a:r>
            <a:r>
              <a:rPr lang="en-IN" i="1" dirty="0" err="1">
                <a:latin typeface="Times New Roman" panose="02020603050405020304" pitchFamily="18" charset="0"/>
                <a:cs typeface="Times New Roman" panose="02020603050405020304" pitchFamily="18" charset="0"/>
              </a:rPr>
              <a:t>Jutif</a:t>
            </a:r>
            <a:r>
              <a:rPr lang="en-IN" i="1"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5</a:t>
            </a:r>
            <a:r>
              <a:rPr lang="en-IN" dirty="0">
                <a:latin typeface="Times New Roman" panose="02020603050405020304" pitchFamily="18" charset="0"/>
                <a:cs typeface="Times New Roman" panose="02020603050405020304" pitchFamily="18" charset="0"/>
              </a:rPr>
              <a:t>(4), pp.21-31.</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3736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hank You Vectors - Download Free High-Quality Vectors from Freepik |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581" y="847899"/>
            <a:ext cx="7046664" cy="498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0932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595</TotalTime>
  <Words>674</Words>
  <Application>Microsoft Office PowerPoint</Application>
  <PresentationFormat>Custom</PresentationFormat>
  <Paragraphs>70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PowerPoint Presentation</vt:lpstr>
      <vt:lpstr>Abstract </vt:lpstr>
      <vt:lpstr>Introduction </vt:lpstr>
      <vt:lpstr>Objectives </vt:lpstr>
      <vt:lpstr>Literature Survey </vt:lpstr>
      <vt:lpstr>Problem Statement </vt:lpstr>
      <vt:lpstr>System Architecture </vt:lpstr>
      <vt:lpstr>MODULE 1: Pollution Data Collection</vt:lpstr>
      <vt:lpstr>MODULE 2: Air Quality Analysis</vt:lpstr>
      <vt:lpstr>MODULE 3: AQI Prediction</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Rahul D</dc:creator>
  <cp:keywords/>
  <dc:description>generated using python-pptx</dc:description>
  <cp:lastModifiedBy>Sanjay M</cp:lastModifiedBy>
  <cp:revision>20</cp:revision>
  <dcterms:created xsi:type="dcterms:W3CDTF">2013-01-27T09:14:16Z</dcterms:created>
  <dcterms:modified xsi:type="dcterms:W3CDTF">2026-07-27T03:41:19Z</dcterms:modified>
  <cp:category/>
</cp:coreProperties>
</file>